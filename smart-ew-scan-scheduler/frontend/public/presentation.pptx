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rradelta.vercel.app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TERRA-DELTA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7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SIH260009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detection due to human activities.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Respawn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TERRA-DELTA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00" b="1" dirty="0">
                <a:solidFill>
                  <a:srgbClr val="191919"/>
                </a:solidFill>
                <a:latin typeface="Arial"/>
              </a:rPr>
              <a:t>TEAM </a:t>
            </a:r>
            <a:r>
              <a:rPr sz="1000" b="1" dirty="0">
                <a:solidFill>
                  <a:srgbClr val="191919"/>
                </a:solidFill>
                <a:latin typeface="Arial"/>
              </a:rPr>
              <a:t>RESPAWN</a:t>
            </a:r>
            <a:endParaRPr lang="en-IN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15568"/>
            <a:ext cx="46177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75682"/>
                </a:solidFill>
                <a:latin typeface="Arial"/>
              </a:rPr>
              <a:t>PROPOSED SOLUTION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411480" y="1371600"/>
            <a:ext cx="4617720" cy="2240280"/>
          </a:xfrm>
          <a:prstGeom prst="rect">
            <a:avLst/>
          </a:prstGeom>
          <a:solidFill>
            <a:srgbClr val="FFFFFF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r>
              <a:rPr sz="1320" b="1">
                <a:solidFill>
                  <a:srgbClr val="191919"/>
                </a:solidFill>
                <a:latin typeface="Arial"/>
              </a:rPr>
              <a:t>TerraDelta MVP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t>• No accessible, automated tool converts raw Sentinel-2 imagery into actionable human-change intelligence for non-GIS users.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t>• User selects location, draws AOI, picks two dates → AI pipeline returns change map, statistics, and PDF report in under 90 seconds.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t>• Data: ESA Sentinel-2 L2A — 10 m resolution, free, global, 5-day revisit via Copernicus Data Space.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t>• AI: Random Forest classifier on 42 spectral, texture and temporal features; Siamese ResNet-18 as comparison path.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t>• Human-change filter: NDBI, NDVI, BSI rules isolate built-up signals and suppress floods, crop cycles and seasonal noise.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t>• Outputs: Before/After imagery, RGBA change mask, GeoJSON polygons, changed area (ha), change %, cluster count, confidence score, PDF report.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11480" y="3767328"/>
            <a:ext cx="46177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75682"/>
                </a:solidFill>
                <a:latin typeface="Arial"/>
              </a:rPr>
              <a:t>UNIQUE VALUE PROPOSITION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411480" y="4023360"/>
            <a:ext cx="4617720" cy="2582394"/>
          </a:xfrm>
          <a:prstGeom prst="rect">
            <a:avLst/>
          </a:prstGeom>
          <a:solidFill>
            <a:srgbClr val="F8FAFC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DETECT → UNDERSTAND → MONITOR → DECIDE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DETECT — Automated human-activity change detection from free Sentinel-2; no GIS expertise or manual </a:t>
            </a:r>
            <a:r>
              <a:rPr sz="1200" dirty="0" err="1"/>
              <a:t>digitisation</a:t>
            </a:r>
            <a:r>
              <a:rPr sz="1200" dirty="0"/>
              <a:t>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UNDERSTAND — Change Explorer: development, vegetation and environmental shifts with real Before/After context.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MONITOR — Protected Area Monitoring: save and password-protect AOIs for recurring, team-accessible monitoring without redrawing.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DECIDE — Quantified outputs (area, %, confidence, clusters, PDF) feed directly into planning, compliance, insurance and infrastructure decisions.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349240" y="1115568"/>
            <a:ext cx="6035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75682"/>
                </a:solidFill>
                <a:latin typeface="Arial"/>
              </a:rPr>
              <a:t>SYSTEM ARCHITECTURE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349240" y="1371600"/>
            <a:ext cx="6172200" cy="4553712"/>
          </a:xfrm>
          <a:prstGeom prst="rect">
            <a:avLst/>
          </a:prstGeom>
          <a:noFill/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C3226A-5EB9-1B3D-271C-788BCBE01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399032"/>
            <a:ext cx="6830569" cy="45537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92F5AE-AD73-4BB2-C93C-C381C3DD740F}"/>
              </a:ext>
            </a:extLst>
          </p:cNvPr>
          <p:cNvSpPr txBox="1"/>
          <p:nvPr/>
        </p:nvSpPr>
        <p:spPr>
          <a:xfrm>
            <a:off x="5469622" y="6266576"/>
            <a:ext cx="6249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WEBSITE LINK: </a:t>
            </a:r>
            <a:r>
              <a:rPr lang="en-IN" dirty="0" err="1">
                <a:hlinkClick r:id="rId5"/>
              </a:rPr>
              <a:t>terradelta.vercel.app</a:t>
            </a:r>
            <a:endParaRPr lang="en-IN" dirty="0"/>
          </a:p>
          <a:p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00" b="1" dirty="0">
                <a:solidFill>
                  <a:srgbClr val="191919"/>
                </a:solidFill>
                <a:latin typeface="Arial"/>
              </a:rPr>
              <a:t>TEAM</a:t>
            </a:r>
          </a:p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RESPAWN</a:t>
            </a:r>
            <a:endParaRPr lang="en-IN" sz="1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15568"/>
            <a:ext cx="4709160" cy="23237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dirty="0">
                <a:solidFill>
                  <a:srgbClr val="375682"/>
                </a:solidFill>
                <a:latin typeface="Arial"/>
              </a:rPr>
              <a:t>TECHNOLOGI</a:t>
            </a:r>
            <a:r>
              <a:rPr lang="en-IN" sz="1150" b="1" dirty="0">
                <a:solidFill>
                  <a:srgbClr val="375682"/>
                </a:solidFill>
                <a:latin typeface="Arial"/>
              </a:rPr>
              <a:t>CAL STACK</a:t>
            </a:r>
            <a:endParaRPr sz="1150" b="1" dirty="0">
              <a:solidFill>
                <a:srgbClr val="375682"/>
              </a:solidFill>
              <a:latin typeface="Arial"/>
            </a:endParaRPr>
          </a:p>
        </p:txBody>
      </p:sp>
      <p:sp>
        <p:nvSpPr>
          <p:cNvPr id="17411" name="Rectangle 17410"/>
          <p:cNvSpPr/>
          <p:nvPr/>
        </p:nvSpPr>
        <p:spPr>
          <a:xfrm>
            <a:off x="411480" y="1376436"/>
            <a:ext cx="4709160" cy="2658669"/>
          </a:xfrm>
          <a:prstGeom prst="rect">
            <a:avLst/>
          </a:prstGeom>
          <a:solidFill>
            <a:srgbClr val="FFFFFF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endParaRPr sz="1200" b="1" dirty="0">
              <a:solidFill>
                <a:srgbClr val="191919"/>
              </a:solidFill>
              <a:latin typeface="Arial"/>
            </a:endParaRP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Frontend — </a:t>
            </a:r>
            <a:r>
              <a:rPr sz="1200" dirty="0"/>
              <a:t>React 18, Vite, Tailwind CSS, React-Leaflet: interactive map, AOI drawing, layer toggle, timeline chart.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Backend / API — </a:t>
            </a:r>
            <a:r>
              <a:rPr sz="1200" dirty="0"/>
              <a:t>Python, </a:t>
            </a:r>
            <a:r>
              <a:rPr sz="1200" dirty="0" err="1"/>
              <a:t>FastAPI</a:t>
            </a:r>
            <a:r>
              <a:rPr sz="1200" dirty="0"/>
              <a:t>, SQLite, </a:t>
            </a:r>
            <a:r>
              <a:rPr sz="1200" dirty="0" err="1"/>
              <a:t>SQLAlchemy</a:t>
            </a:r>
            <a:r>
              <a:rPr sz="1200" dirty="0"/>
              <a:t>: async job queue, result persistence, static file serving.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AI / ML — </a:t>
            </a:r>
            <a:r>
              <a:rPr sz="1200" dirty="0"/>
              <a:t>scikit-learn Random Forest, </a:t>
            </a:r>
            <a:r>
              <a:rPr sz="1200" dirty="0" err="1"/>
              <a:t>PyTorch</a:t>
            </a:r>
            <a:r>
              <a:rPr sz="1200" dirty="0"/>
              <a:t> Siamese ResNet-18 comparison, NumPy: change-probability inference.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Geospatial / Image — </a:t>
            </a:r>
            <a:r>
              <a:rPr sz="1200" dirty="0" err="1"/>
              <a:t>Rasterio</a:t>
            </a:r>
            <a:r>
              <a:rPr sz="1200" dirty="0"/>
              <a:t>, OpenCV, scikit-image, SciPy, </a:t>
            </a:r>
            <a:r>
              <a:rPr sz="1200" dirty="0" err="1"/>
              <a:t>GeoPandas</a:t>
            </a:r>
            <a:r>
              <a:rPr sz="1200" dirty="0"/>
              <a:t>, Shapely: band prep, GLCM texture, morphology, </a:t>
            </a:r>
            <a:r>
              <a:rPr sz="1200" dirty="0" err="1"/>
              <a:t>vectorisation</a:t>
            </a:r>
            <a:r>
              <a:rPr sz="1200" dirty="0"/>
              <a:t>.</a:t>
            </a:r>
          </a:p>
          <a:p>
            <a:pPr>
              <a:spcAft>
                <a:spcPts val="50"/>
              </a:spcAft>
              <a:defRPr sz="85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Reporting / Deploy — </a:t>
            </a:r>
            <a:r>
              <a:rPr sz="1200" dirty="0" err="1"/>
              <a:t>ReportLab</a:t>
            </a:r>
            <a:r>
              <a:rPr sz="1200" dirty="0"/>
              <a:t>, Docker, Render + </a:t>
            </a:r>
            <a:r>
              <a:rPr sz="1200" dirty="0" err="1"/>
              <a:t>Vercel</a:t>
            </a:r>
            <a:r>
              <a:rPr sz="1200" dirty="0"/>
              <a:t>: automated report generation and cloud deployment.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1480" y="4167483"/>
            <a:ext cx="4709160" cy="2509986"/>
          </a:xfrm>
          <a:prstGeom prst="rect">
            <a:avLst/>
          </a:prstGeom>
          <a:solidFill>
            <a:srgbClr val="F8FAFC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r>
              <a:rPr sz="1200" b="1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MVP MODEL</a:t>
            </a:r>
          </a:p>
          <a:p>
            <a:pPr>
              <a:spcAft>
                <a:spcPts val="50"/>
              </a:spcAft>
              <a:defRPr sz="83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Primary: </a:t>
            </a:r>
            <a:r>
              <a:rPr sz="1200" dirty="0"/>
              <a:t>Random Forest on 42 engineered features — CPU-only, interpretable feature importances, no GPU required, suitable for student-scale deployment.</a:t>
            </a:r>
          </a:p>
          <a:p>
            <a:pPr>
              <a:spcAft>
                <a:spcPts val="50"/>
              </a:spcAft>
              <a:defRPr sz="835">
                <a:solidFill>
                  <a:srgbClr val="191919"/>
                </a:solidFill>
                <a:latin typeface="Arial"/>
              </a:defRPr>
            </a:pPr>
            <a:r>
              <a:rPr sz="1200" dirty="0">
                <a:solidFill>
                  <a:schemeClr val="accent1">
                    <a:lumMod val="75000"/>
                  </a:schemeClr>
                </a:solidFill>
              </a:rPr>
              <a:t>• Comparison path: </a:t>
            </a:r>
            <a:r>
              <a:rPr sz="1200" dirty="0"/>
              <a:t>Siamese ResNet-18 patch classifier — built, under evaluation; trained on synthetic data. Real-data training and F1 benchmarking against RF are validation work, not a deployed production model.</a:t>
            </a:r>
          </a:p>
          <a:p>
            <a:pPr>
              <a:spcAft>
                <a:spcPts val="50"/>
              </a:spcAft>
              <a:defRPr sz="83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Both models use synthetic Sentinel-2-like data for demo; OSCD real-data training is the next milestone.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4C9824-005D-0CDB-4665-CC7DA79CF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283" y="1583055"/>
            <a:ext cx="6834731" cy="4556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00" b="1" dirty="0">
                <a:solidFill>
                  <a:srgbClr val="191919"/>
                </a:solidFill>
                <a:latin typeface="Arial"/>
              </a:rPr>
              <a:t>TEAM</a:t>
            </a:r>
          </a:p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RESPAWN</a:t>
            </a:r>
            <a:endParaRPr lang="en-IN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97063"/>
            <a:ext cx="65379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dirty="0">
                <a:solidFill>
                  <a:srgbClr val="375682"/>
                </a:solidFill>
                <a:latin typeface="Arial"/>
              </a:rPr>
              <a:t>FEASIBILITY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150608" y="4032615"/>
            <a:ext cx="2702766" cy="23237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dirty="0">
                <a:solidFill>
                  <a:srgbClr val="375682"/>
                </a:solidFill>
                <a:latin typeface="Arial"/>
              </a:rPr>
              <a:t>VIABILITY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7150608" y="4349230"/>
            <a:ext cx="4380899" cy="1514885"/>
          </a:xfrm>
          <a:prstGeom prst="rect">
            <a:avLst/>
          </a:prstGeom>
          <a:solidFill>
            <a:srgbClr val="F8FAFC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endParaRPr sz="1200" b="1" dirty="0">
              <a:solidFill>
                <a:srgbClr val="191919"/>
              </a:solidFill>
              <a:latin typeface="Arial"/>
            </a:endParaRPr>
          </a:p>
          <a:p>
            <a:pPr>
              <a:spcAft>
                <a:spcPts val="50"/>
              </a:spcAft>
              <a:defRPr sz="869">
                <a:solidFill>
                  <a:srgbClr val="191919"/>
                </a:solidFill>
                <a:latin typeface="Arial"/>
              </a:defRPr>
            </a:pPr>
            <a:r>
              <a:rPr lang="en-IN" sz="1200" dirty="0"/>
              <a:t>1. </a:t>
            </a:r>
            <a:r>
              <a:rPr sz="1200" dirty="0"/>
              <a:t>End-to-end pipeline is built and tested;</a:t>
            </a:r>
            <a:endParaRPr lang="en-IN" sz="1200" dirty="0"/>
          </a:p>
          <a:p>
            <a:pPr>
              <a:spcAft>
                <a:spcPts val="50"/>
              </a:spcAft>
              <a:defRPr sz="869">
                <a:solidFill>
                  <a:srgbClr val="191919"/>
                </a:solidFill>
                <a:latin typeface="Arial"/>
              </a:defRPr>
            </a:pPr>
            <a:r>
              <a:rPr lang="en-IN" sz="1200" dirty="0"/>
              <a:t>2. F</a:t>
            </a:r>
            <a:r>
              <a:rPr sz="1200" dirty="0" err="1"/>
              <a:t>ree</a:t>
            </a:r>
            <a:r>
              <a:rPr sz="1200" dirty="0"/>
              <a:t> satellite data removes the largest scaling cost barrier; </a:t>
            </a:r>
            <a:endParaRPr lang="en-IN" sz="1200" dirty="0"/>
          </a:p>
          <a:p>
            <a:pPr>
              <a:spcAft>
                <a:spcPts val="50"/>
              </a:spcAft>
              <a:defRPr sz="869">
                <a:solidFill>
                  <a:srgbClr val="191919"/>
                </a:solidFill>
                <a:latin typeface="Arial"/>
              </a:defRPr>
            </a:pPr>
            <a:r>
              <a:rPr lang="en-IN" sz="1200" dirty="0"/>
              <a:t>3. </a:t>
            </a:r>
            <a:r>
              <a:rPr sz="1200" dirty="0"/>
              <a:t>Protected Area Monitoring + PDF reporting encourage institutional repeat use; </a:t>
            </a:r>
            <a:endParaRPr lang="en-IN" sz="1200" dirty="0"/>
          </a:p>
          <a:p>
            <a:pPr>
              <a:spcAft>
                <a:spcPts val="50"/>
              </a:spcAft>
              <a:defRPr sz="869">
                <a:solidFill>
                  <a:srgbClr val="191919"/>
                </a:solidFill>
                <a:latin typeface="Arial"/>
              </a:defRPr>
            </a:pPr>
            <a:r>
              <a:rPr lang="en-IN" sz="1200" dirty="0"/>
              <a:t>4. M</a:t>
            </a:r>
            <a:r>
              <a:rPr sz="1200" dirty="0" err="1"/>
              <a:t>odular</a:t>
            </a:r>
            <a:r>
              <a:rPr sz="1200" dirty="0"/>
              <a:t> design supports RF → U-Net upgrades; </a:t>
            </a:r>
            <a:endParaRPr lang="en-IN" sz="1200" dirty="0"/>
          </a:p>
          <a:p>
            <a:pPr>
              <a:spcAft>
                <a:spcPts val="50"/>
              </a:spcAft>
              <a:defRPr sz="869">
                <a:solidFill>
                  <a:srgbClr val="191919"/>
                </a:solidFill>
                <a:latin typeface="Arial"/>
              </a:defRPr>
            </a:pPr>
            <a:r>
              <a:rPr lang="en-IN" sz="1200" dirty="0"/>
              <a:t>5. A</a:t>
            </a:r>
            <a:r>
              <a:rPr sz="1200" dirty="0" err="1"/>
              <a:t>ligns</a:t>
            </a:r>
            <a:r>
              <a:rPr sz="1200" dirty="0"/>
              <a:t> with the stated change-detection need.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150608" y="1078992"/>
            <a:ext cx="4389120" cy="23237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 dirty="0">
                <a:solidFill>
                  <a:srgbClr val="375682"/>
                </a:solidFill>
                <a:latin typeface="Arial"/>
              </a:rPr>
              <a:t>CHALLENGES</a:t>
            </a:r>
            <a:r>
              <a:rPr lang="en-IN" sz="1150" b="1" dirty="0">
                <a:solidFill>
                  <a:srgbClr val="375682"/>
                </a:solidFill>
                <a:latin typeface="Arial"/>
              </a:rPr>
              <a:t> / CURRENT CONSTRAINTS</a:t>
            </a:r>
            <a:endParaRPr sz="1150" b="1" dirty="0">
              <a:solidFill>
                <a:srgbClr val="375682"/>
              </a:solidFill>
              <a:latin typeface="Arial"/>
            </a:endParaRPr>
          </a:p>
        </p:txBody>
      </p:sp>
      <p:sp>
        <p:nvSpPr>
          <p:cNvPr id="17415" name="Rectangle 17414"/>
          <p:cNvSpPr/>
          <p:nvPr/>
        </p:nvSpPr>
        <p:spPr>
          <a:xfrm>
            <a:off x="7150608" y="1325880"/>
            <a:ext cx="4407408" cy="2377440"/>
          </a:xfrm>
          <a:prstGeom prst="rect">
            <a:avLst/>
          </a:prstGeom>
          <a:solidFill>
            <a:srgbClr val="FFFFFF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endParaRPr sz="1200" b="1" dirty="0">
              <a:solidFill>
                <a:srgbClr val="191919"/>
              </a:solidFill>
              <a:latin typeface="Arial"/>
            </a:endParaRP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Sentinel-2 10 m resolution limits detection to objects ≥30 m.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Spectrally ambiguous pixels can misclassify irrigated bare soil vs construction.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Demo model uses synthetic data; real-world F1 not yet validated on held-out labelled scenes.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CDSE free-tier download latency and persistent cloud cover can limit availability.</a:t>
            </a:r>
          </a:p>
          <a:p>
            <a:pPr>
              <a:spcAft>
                <a:spcPts val="50"/>
              </a:spcAft>
              <a:defRPr sz="86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• Concurrent long jobs may queue; single background worker is a scale bottleneck</a:t>
            </a:r>
            <a:r>
              <a:rPr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27C1B3-92B7-A5E6-BAB9-26792127B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02" y="1431240"/>
            <a:ext cx="6799998" cy="453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00" b="1" dirty="0">
                <a:solidFill>
                  <a:srgbClr val="191919"/>
                </a:solidFill>
                <a:latin typeface="Arial"/>
              </a:rPr>
              <a:t>TEAM</a:t>
            </a:r>
          </a:p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RESPAWN</a:t>
            </a:r>
            <a:endParaRPr lang="en-IN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7150608" y="1078992"/>
            <a:ext cx="43891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75682"/>
                </a:solidFill>
                <a:latin typeface="Arial"/>
              </a:rPr>
              <a:t>WORKING PRODUCT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7150608" y="1325880"/>
            <a:ext cx="4407408" cy="2103120"/>
          </a:xfrm>
          <a:prstGeom prst="rect">
            <a:avLst/>
          </a:prstGeom>
          <a:noFill/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646464"/>
                </a:solidFill>
                <a:latin typeface="Arial"/>
              </a:rPr>
              <a:t>PASTE WEBSITE SCREENSHOT 1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7150608" y="3730752"/>
            <a:ext cx="4407408" cy="2103120"/>
          </a:xfrm>
          <a:prstGeom prst="rect">
            <a:avLst/>
          </a:prstGeom>
          <a:noFill/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6464"/>
                </a:solidFill>
                <a:latin typeface="Arial"/>
              </a:rPr>
              <a:t>PASTE WEBSITE SCREENSHOT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BFEE2-ABB4-42FA-E6F8-8439B8A7D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39634"/>
            <a:ext cx="5705176" cy="5918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AEC604-FF33-675F-DEF4-8C526A1C2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790" y="1307592"/>
            <a:ext cx="4873456" cy="2281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3A5707-38EA-D890-ADE4-14CF684EE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790" y="3730752"/>
            <a:ext cx="4916475" cy="2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00" b="1" dirty="0">
                <a:solidFill>
                  <a:srgbClr val="191919"/>
                </a:solidFill>
                <a:latin typeface="Arial"/>
              </a:rPr>
              <a:t>TEAM</a:t>
            </a:r>
          </a:p>
          <a:p>
            <a:pPr algn="ctr"/>
            <a:r>
              <a:rPr sz="1000" b="1" dirty="0">
                <a:solidFill>
                  <a:srgbClr val="191919"/>
                </a:solidFill>
                <a:latin typeface="Arial"/>
              </a:rPr>
              <a:t>RESPAWN</a:t>
            </a:r>
            <a:endParaRPr lang="en-IN" sz="1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078992"/>
            <a:ext cx="3730752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75682"/>
                </a:solidFill>
                <a:latin typeface="Arial"/>
              </a:rPr>
              <a:t>RESEARCH / REFERENCES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84048" y="1325880"/>
            <a:ext cx="3767328" cy="434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>
              <a:spcAft>
                <a:spcPts val="100"/>
              </a:spcAft>
            </a:pPr>
            <a:r>
              <a:rPr b="1" dirty="0">
                <a:solidFill>
                  <a:srgbClr val="191919"/>
                </a:solidFill>
                <a:latin typeface="Arial"/>
              </a:rPr>
              <a:t>Research Base</a:t>
            </a:r>
            <a:endParaRPr lang="en-IN" b="1" dirty="0">
              <a:solidFill>
                <a:srgbClr val="191919"/>
              </a:solidFill>
              <a:latin typeface="Arial"/>
            </a:endParaRPr>
          </a:p>
          <a:p>
            <a:pPr algn="ctr">
              <a:spcAft>
                <a:spcPts val="100"/>
              </a:spcAft>
            </a:pPr>
            <a:endParaRPr lang="en-IN" sz="1600" b="1" dirty="0">
              <a:solidFill>
                <a:srgbClr val="191919"/>
              </a:solidFill>
              <a:latin typeface="Arial"/>
            </a:endParaRP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ESA Sentinel-2 Mission — Level-2A Surface Reflectance Product Guide (sentinel.esa.int)</a:t>
            </a:r>
            <a:r>
              <a:rPr lang="en-IN" sz="1200" dirty="0"/>
              <a:t>.</a:t>
            </a:r>
            <a:endParaRPr sz="1200" dirty="0"/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Copernicus Data Space Ecosystem STAC API &amp; S3 Data Access (dataspace.copernicus.eu).</a:t>
            </a: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Daudt, H.M.C. et al. — Fully Convolutional Siamese Networks for Change Detection (IEEE ICIP, 2018).</a:t>
            </a: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OSCD — </a:t>
            </a:r>
            <a:r>
              <a:rPr sz="1200" dirty="0" err="1"/>
              <a:t>Onera</a:t>
            </a:r>
            <a:r>
              <a:rPr sz="1200" dirty="0"/>
              <a:t> Satellite Change Detection Dataset (24 labelled Sentinel-2 city pairs).</a:t>
            </a: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Bruzzone, L. &amp; Prieto, D.F. — Automatic Analysis of the Difference Image for Unsupervised Change Detection (IEEE TGRS, 2000).</a:t>
            </a: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ISRO / NRSC — Bhuvan Geoportal and Resourcesat-2 LISS-4 Data Access (bhuvan.nrsc.gov.in).</a:t>
            </a: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UN DESA — World Urbanization Prospects 2022.</a:t>
            </a:r>
          </a:p>
          <a:p>
            <a:pPr marL="228600" indent="-228600">
              <a:spcAft>
                <a:spcPts val="50"/>
              </a:spcAft>
              <a:buFont typeface="Wingdings" panose="05000000000000000000" pitchFamily="2" charset="2"/>
              <a:buChar char="q"/>
              <a:defRPr sz="805">
                <a:solidFill>
                  <a:srgbClr val="191919"/>
                </a:solidFill>
                <a:latin typeface="Arial"/>
              </a:defRPr>
            </a:pPr>
            <a:r>
              <a:rPr sz="1200" dirty="0"/>
              <a:t> Google Earth Engine — Cloud-based geospatial analysis platform overview.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70832" y="1078992"/>
            <a:ext cx="7178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50" b="1">
                <a:solidFill>
                  <a:srgbClr val="375682"/>
                </a:solidFill>
                <a:latin typeface="Arial"/>
              </a:rPr>
              <a:t>COMPETITIVE COMPARISON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816493"/>
              </p:ext>
            </p:extLst>
          </p:nvPr>
        </p:nvGraphicFramePr>
        <p:xfrm>
          <a:off x="4370832" y="1325880"/>
          <a:ext cx="716889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IN" sz="900" b="1" dirty="0">
                          <a:solidFill>
                            <a:srgbClr val="FFFFFF"/>
                          </a:solidFill>
                          <a:latin typeface="Arial"/>
                        </a:rPr>
                        <a:t>        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22860" marR="2286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TerraDelta</a:t>
                      </a:r>
                      <a:endParaRPr sz="9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22860" marR="2286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Google Earth Engine</a:t>
                      </a:r>
                    </a:p>
                  </a:txBody>
                  <a:tcPr marL="22860" marR="2286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ISRO Bhuvan</a:t>
                      </a:r>
                    </a:p>
                  </a:txBody>
                  <a:tcPr marL="22860" marR="22860" marT="18288" marB="18288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</a:rPr>
                        <a:t>Planet Explorer</a:t>
                      </a:r>
                    </a:p>
                  </a:txBody>
                  <a:tcPr marL="22860" marR="22860" marT="18288" marB="18288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Primary Focus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Human change detection + decision support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General geospatial analysis platform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Indian EO data portal &amp; visualisation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Commercial high-res imagery subscription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AOI + Date Workflow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Draw AOI → pick dates → automated pipeline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Custom scripting required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Manual visual exploration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Manual or API (paid)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Automated Change Detection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✔ Built-in (RF + filter)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Available via scripting (requires GIS expertise)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Not a core automated feature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Available via paid analytics add-on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Area / % / Confidence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✔ Auto-computed, report-ready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Requires custom script to compute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Not automated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Available in paid tiers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Human-Change Interpretation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✔ Spectral filter separates human vs environmental change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Not built-in; user-defined logic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Not available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Not available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Recurring AOI Monitoring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✔ Protected Area Monitoring (save + revisit)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Possible via scripting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Not a core feature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Available (paid subscription)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No-code / No-GIS Access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✔ Browser, no software needed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Requires JavaScript/Python coding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Browser viewer; limited analysis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Browser; analysis requires paid plan</a:t>
                      </a:r>
                    </a:p>
                  </a:txBody>
                  <a:tcPr marL="22860" marR="2286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Data Access Model</a:t>
                      </a:r>
                    </a:p>
                  </a:txBody>
                  <a:tcPr marL="22860" marR="22860" marT="18288" marB="1828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Free Sentinel-2 + Freemium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Free (GEE quota-limited)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91919"/>
                          </a:solidFill>
                          <a:latin typeface="Arial"/>
                        </a:rPr>
                        <a:t>Free (ISRO datasets)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91919"/>
                          </a:solidFill>
                          <a:latin typeface="Arial"/>
                        </a:rPr>
                        <a:t>Paid subscription (Planet imagery)</a:t>
                      </a:r>
                    </a:p>
                  </a:txBody>
                  <a:tcPr marL="22860" marR="22860" marT="18288" marB="18288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4407408" y="5925312"/>
            <a:ext cx="704088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900" b="0" dirty="0">
                <a:solidFill>
                  <a:srgbClr val="646464"/>
                </a:solidFill>
                <a:latin typeface="Arial"/>
              </a:rPr>
              <a:t>FINAL POSITIONING — </a:t>
            </a:r>
            <a:r>
              <a:rPr sz="900" b="0" dirty="0" err="1">
                <a:solidFill>
                  <a:srgbClr val="646464"/>
                </a:solidFill>
                <a:latin typeface="Arial"/>
              </a:rPr>
              <a:t>TerraDelta</a:t>
            </a:r>
            <a:r>
              <a:rPr sz="900" b="0" dirty="0">
                <a:solidFill>
                  <a:srgbClr val="646464"/>
                </a:solidFill>
                <a:latin typeface="Arial"/>
              </a:rPr>
              <a:t> is a focused, automated Earth-change decision-support layer built on freely available EO data; it is not a general-purpose GIS platform or a replacement for commercial high-resolution imagery. Its value is converting raw satellite data into quantified, human-change-specific intelligence for planners, insurers and developers without geospatial expertise.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7737</TotalTime>
  <Words>1063</Words>
  <Application>Microsoft Office PowerPoint</Application>
  <PresentationFormat>Widescreen</PresentationFormat>
  <Paragraphs>133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TERRA-DELTA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raj1202harsh@outlook.com</cp:lastModifiedBy>
  <cp:revision>152</cp:revision>
  <dcterms:created xsi:type="dcterms:W3CDTF">2013-12-12T18:46:50Z</dcterms:created>
  <dcterms:modified xsi:type="dcterms:W3CDTF">2026-08-21T06:36:29Z</dcterms:modified>
  <cp:category/>
</cp:coreProperties>
</file>